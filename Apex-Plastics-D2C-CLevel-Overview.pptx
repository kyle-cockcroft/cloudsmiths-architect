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commercial prize (R60M→R175M) then immediately the three hard constraints: retailer concentration, SAP volume cliff, and 7-person IT. Channel conflict is not a UX preference — it is existential revenue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boxes left to right. Emphasize that business rules protecting retailers and consent live in Salesforce/MuleSoft — not buried in Shopify scripts. SAP is deliberately off the synchronous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adopts vs deliberate defers. Push the 'named debt' rule — nightly SAP batch is allowed only with exit criteria. SFCC is not rejected forever; it is gated.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Budgets are technology programme only. Stress exit criteria between phases — especially P1→P2: storefront live, reconciliation within error rate, Integration Architect hired, OpenAPI stubs in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four decisions. Risks are not surprises — each already has a named mitigation. Offer the technical deep-dive for CTO/architect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DIRECT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— and what constrains us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launch · Protect B2B · Do not break SAP · Build what we can run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14486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R60M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D2C target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R175M by Y3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14486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0604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69748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top 12 retailers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9748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conflict is existential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14486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75–125k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846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/ month at scale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cannot take that live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141732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014486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03720" y="1554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9951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FTEs today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9516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delivery required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1089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918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14-yr SAP R/3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4008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layer · treat as batch SoR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337560" y="31089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29184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8620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P2P links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52044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sprawl before D2C adds 8–10 more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217920" y="31089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91840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0" y="32918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is new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0080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checkout · QSA in Phase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ARCHITECTURE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thesis. Four owners.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AF5F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896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owns the cart  ·  Salesforce owns the customer  ·  MuleSoft owns the contracts  ·  SAP stays off the live D2C path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43000" y="1874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F5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" y="2651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/ Sale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30632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Plus storefront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Cloud portal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· Service · Marketing Cloud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606040" y="169164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874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F5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011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15768" y="2651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hub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743200" y="30632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Enterprise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· Case · Consent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rules · lead routing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169164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40680" y="1874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F5F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0116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64608" y="2651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fabric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892040" y="30632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Anypoint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API-led · Events · Batch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&amp; contracts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03720" y="1691640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589520" y="18745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F5F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01168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13448" y="2651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of record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040880" y="30632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MDM · PIM · D2C WMS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R/3 (interim finance)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· Tax (ZA/SADC)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concerns: System of Sale ≠ Engagement ≠ Process ≠ Record — so ERP or commerce can change without rewriting the estate.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CHOICES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now. Defer deliberately.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5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978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Plus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749040" y="996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sale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234440" y="1234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speed · PCI scope reduction · mid-market SI capacity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34440" y="14356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Watch-out: Keep business rules out of Liquid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11480" y="18288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0116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5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EE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74904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hub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234440" y="21945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+ Service + Marketing Cloud · conflict &amp; consent ownership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234440" y="23957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Watch-out: Adoption work; PE → EE uplift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11480" y="27889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2971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AF5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2898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3749040" y="2916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fabric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234440" y="31546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P2P growth · versioned contracts · future ERP swap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234440" y="33558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Watch-out: Boomi remains TCO alternative via spike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989320" y="86868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032D60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051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72200" y="1508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9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the Q3 path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217920" y="21945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SFCC / Commerce Cloud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217920" y="235915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after cloud ERP + TCO clear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217920" y="2560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MDM + PIM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217920" y="27249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identity in P1; build in P2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217920" y="29260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 replace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217920" y="309067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behind stable APIs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217920" y="329184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 SKU perfection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6217920" y="34564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catalog 150–300 SKUs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11480" y="3931920"/>
            <a:ext cx="8321040" cy="868680"/>
          </a:xfrm>
          <a:prstGeom prst="roundRect">
            <a:avLst>
              <a:gd name="adj" fmla="val 8421"/>
            </a:avLst>
          </a:prstGeom>
          <a:solidFill>
            <a:srgbClr val="EAF5F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160520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51560" y="40233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Pragmatism with named debt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051560" y="4297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shortcuts only when they unblock Q3 2026, have an owner and retirement phase, and do not lock business logic into Shopify scripts or one-off SAP RFCs. Contracts stay in MuleSoft / Salesforce.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INVESTMENT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Ship. Platformize. Modernise ERP.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9144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176D3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234440"/>
            <a:ext cx="2743200" cy="182880"/>
          </a:xfrm>
          <a:prstGeom prst="rect">
            <a:avLst/>
          </a:prstGeom>
          <a:solidFill>
            <a:srgbClr val="0176D3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83080" y="1005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R6–8M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02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vertical slice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Q1–Q3 2026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customers live · SF engagement · nightly SAP · PCI · conflict flags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291840" y="9144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9184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32D60"/>
          </a:solidFill>
          <a:ln/>
        </p:spPr>
      </p:sp>
      <p:sp>
        <p:nvSpPr>
          <p:cNvPr id="16" name="Shape 12"/>
          <p:cNvSpPr/>
          <p:nvPr/>
        </p:nvSpPr>
        <p:spPr>
          <a:xfrm>
            <a:off x="3291840" y="1234440"/>
            <a:ext cx="2743200" cy="182880"/>
          </a:xfrm>
          <a:prstGeom prst="rect">
            <a:avLst/>
          </a:prstGeom>
          <a:solidFill>
            <a:srgbClr val="032D60"/>
          </a:solidFill>
          <a:ln/>
        </p:spPr>
      </p:sp>
      <p:sp>
        <p:nvSpPr>
          <p:cNvPr id="17" name="Text 13"/>
          <p:cNvSpPr/>
          <p:nvPr/>
        </p:nvSpPr>
        <p:spPr>
          <a:xfrm>
            <a:off x="342900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63440" y="1005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R4–5.5M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00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290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Platformize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342900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2026–Q2 2027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7472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hub · MDM/PIM · near-RT inventory · retailer portal · advanced MC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914400"/>
            <a:ext cx="2743200" cy="2880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72200" y="9144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E844A"/>
          </a:solidFill>
          <a:ln/>
        </p:spPr>
      </p:sp>
      <p:sp>
        <p:nvSpPr>
          <p:cNvPr id="25" name="Shape 20"/>
          <p:cNvSpPr/>
          <p:nvPr/>
        </p:nvSpPr>
        <p:spPr>
          <a:xfrm>
            <a:off x="6172200" y="1234440"/>
            <a:ext cx="2743200" cy="182880"/>
          </a:xfrm>
          <a:prstGeom prst="rect">
            <a:avLst/>
          </a:prstGeom>
          <a:solidFill>
            <a:srgbClr val="2E844A"/>
          </a:solidFill>
          <a:ln/>
        </p:spPr>
      </p:sp>
      <p:sp>
        <p:nvSpPr>
          <p:cNvPr id="26" name="Text 21"/>
          <p:cNvSpPr/>
          <p:nvPr/>
        </p:nvSpPr>
        <p:spPr>
          <a:xfrm>
            <a:off x="630936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543800" y="1005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R12.5–17.5M</a:t>
            </a:r>
            <a:endParaRPr lang="en-US" sz="13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0020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093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ERP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309360" y="2423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2027–Q1 2028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35508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ERP behind same APIs · retire R/3 path · optional SFCC case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11480" y="40233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EAF5FE"/>
          </a:solidFill>
          <a:ln/>
        </p:spPr>
      </p:sp>
      <p:sp>
        <p:nvSpPr>
          <p:cNvPr id="33" name="Text 27"/>
          <p:cNvSpPr/>
          <p:nvPr/>
        </p:nvSpPr>
        <p:spPr>
          <a:xfrm>
            <a:off x="594360" y="41148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change travels with technology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94360" y="4389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go-live: retailer communication pack · sales compensation policy · MVP assortment (150–300 SKUs) · D2C P&amp;L ownership. Tech budget excludes R7.5M warehouse automation and Y1 media (track separately).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&amp; RISKS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leadership today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8229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target stack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Plus + SF EE + Marketing Cloud + MuleSoft preferred + MDM/PIM in P2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82296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9496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Phase 1 scope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94960" y="1261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ERP replacement · no SFCC · no full MDM on the launch critical path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17830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9728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the next 30 days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Architect · Shopify/SF SI · QSA · SAP inventory + iPaaS spikes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17830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7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3949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API contracts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94960" y="2221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Apex-owned Order · Inventory · Customer · Product contracts in Git before build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— already owned with mitigations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320040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337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DECEA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0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conflict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1208" y="3749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· assortment · exec narrative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48840" y="320040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286000" y="3337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DECEA"/>
          </a:solidFill>
          <a:ln/>
        </p:spPr>
      </p:sp>
      <p:sp>
        <p:nvSpPr>
          <p:cNvPr id="28" name="Text 25"/>
          <p:cNvSpPr/>
          <p:nvPr/>
        </p:nvSpPr>
        <p:spPr>
          <a:xfrm>
            <a:off x="228600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0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fragility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258568" y="3749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isolation · interface inventory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320040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023360" y="3337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DECEA"/>
          </a:solidFill>
          <a:ln/>
        </p:spPr>
      </p:sp>
      <p:sp>
        <p:nvSpPr>
          <p:cNvPr id="32" name="Text 29"/>
          <p:cNvSpPr/>
          <p:nvPr/>
        </p:nvSpPr>
        <p:spPr>
          <a:xfrm>
            <a:off x="402336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0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Oversell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995928" y="3749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 ATP · buffers · kill-switch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23560" y="320040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760720" y="3337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DECEA"/>
          </a:solidFill>
          <a:ln/>
        </p:spPr>
      </p:sp>
      <p:sp>
        <p:nvSpPr>
          <p:cNvPr id="36" name="Text 33"/>
          <p:cNvSpPr/>
          <p:nvPr/>
        </p:nvSpPr>
        <p:spPr>
          <a:xfrm>
            <a:off x="576072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0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/ capacity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733288" y="3749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hire + SI + managed ops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60920" y="3200400"/>
            <a:ext cx="1645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32D6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498080" y="333756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DECEA"/>
          </a:solidFill>
          <a:ln/>
        </p:spPr>
      </p:sp>
      <p:sp>
        <p:nvSpPr>
          <p:cNvPr id="40" name="Text 37"/>
          <p:cNvSpPr/>
          <p:nvPr/>
        </p:nvSpPr>
        <p:spPr>
          <a:xfrm>
            <a:off x="7498080" y="3337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0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forever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70648" y="374904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criteria · CTO RAG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Direct — C-Level Architecture Overview</dc:title>
  <dc:subject>D2C Target Architecture — Executive Briefing</dc:subject>
  <dc:creator>Cloudsmiths Architect</dc:creator>
  <cp:lastModifiedBy>Cloudsmiths Architect</cp:lastModifiedBy>
  <cp:revision>1</cp:revision>
  <dcterms:created xsi:type="dcterms:W3CDTF">2026-08-05T08:19:31Z</dcterms:created>
  <dcterms:modified xsi:type="dcterms:W3CDTF">2026-08-05T08:19:31Z</dcterms:modified>
</cp:coreProperties>
</file>